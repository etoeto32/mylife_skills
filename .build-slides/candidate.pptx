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20644f3deb4753" /><Relationship Type="http://schemas.openxmlformats.org/officeDocument/2006/relationships/extended-properties" Target="/docProps/app.xml" Id="R008fb933d17e4bd6" /><Relationship Type="http://schemas.openxmlformats.org/officeDocument/2006/relationships/officeDocument" Target="/ppt/presentation.xml" Id="R23159723b51148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837ba5a73446f8"/>
  </p:sldMasterIdLst>
  <p:notesMasterIdLst>
    <p:notesMasterId xmlns:r="http://schemas.openxmlformats.org/officeDocument/2006/relationships" r:id="R70c4ffe89a924b65"/>
  </p:notesMasterIdLst>
  <p:sldIdLst>
    <p:sldId xmlns:r="http://schemas.openxmlformats.org/officeDocument/2006/relationships" id="256" r:id="Ra39666493de84cb3"/>
    <p:sldId xmlns:r="http://schemas.openxmlformats.org/officeDocument/2006/relationships" id="257" r:id="R3f46988cc6694159"/>
    <p:sldId xmlns:r="http://schemas.openxmlformats.org/officeDocument/2006/relationships" id="258" r:id="R1e91ab157a7347e4"/>
    <p:sldId xmlns:r="http://schemas.openxmlformats.org/officeDocument/2006/relationships" id="259" r:id="R0ef22df60c924c66"/>
    <p:sldId xmlns:r="http://schemas.openxmlformats.org/officeDocument/2006/relationships" id="260" r:id="Re161d1d015094b4f"/>
    <p:sldId xmlns:r="http://schemas.openxmlformats.org/officeDocument/2006/relationships" id="261" r:id="R68fc24cf6a2542ae"/>
    <p:sldId xmlns:r="http://schemas.openxmlformats.org/officeDocument/2006/relationships" id="262" r:id="R0fe6fef124734467"/>
    <p:sldId xmlns:r="http://schemas.openxmlformats.org/officeDocument/2006/relationships" id="263" r:id="R053f88c650c74ec5"/>
    <p:sldId xmlns:r="http://schemas.openxmlformats.org/officeDocument/2006/relationships" id="264" r:id="R94d3d8a87b1c4004"/>
    <p:sldId xmlns:r="http://schemas.openxmlformats.org/officeDocument/2006/relationships" id="265" r:id="R83b32b47d8c8460c"/>
    <p:sldId xmlns:r="http://schemas.openxmlformats.org/officeDocument/2006/relationships" id="266" r:id="Raa14ca135031459d"/>
    <p:sldId xmlns:r="http://schemas.openxmlformats.org/officeDocument/2006/relationships" id="267" r:id="R60d231a347204e88"/>
    <p:sldId xmlns:r="http://schemas.openxmlformats.org/officeDocument/2006/relationships" id="268" r:id="R4b45c125cb8f457c"/>
    <p:sldId xmlns:r="http://schemas.openxmlformats.org/officeDocument/2006/relationships" id="269" r:id="R4f6a20b781404fe3"/>
    <p:sldId xmlns:r="http://schemas.openxmlformats.org/officeDocument/2006/relationships" id="270" r:id="R33082cc99dfb4f05"/>
    <p:sldId xmlns:r="http://schemas.openxmlformats.org/officeDocument/2006/relationships" id="271" r:id="R3d47f8284388425b"/>
    <p:sldId xmlns:r="http://schemas.openxmlformats.org/officeDocument/2006/relationships" id="272" r:id="R8f6c626d523a43da"/>
    <p:sldId xmlns:r="http://schemas.openxmlformats.org/officeDocument/2006/relationships" id="273" r:id="Ree3e32988041417e"/>
    <p:sldId xmlns:r="http://schemas.openxmlformats.org/officeDocument/2006/relationships" id="274" r:id="Rfb9d4351ddd3455b"/>
    <p:sldId xmlns:r="http://schemas.openxmlformats.org/officeDocument/2006/relationships" id="275" r:id="Re41ec91ed8d546f6"/>
    <p:sldId xmlns:r="http://schemas.openxmlformats.org/officeDocument/2006/relationships" id="276" r:id="R75ee8f4f7cbc40d5"/>
    <p:sldId xmlns:r="http://schemas.openxmlformats.org/officeDocument/2006/relationships" id="277" r:id="R3d129b783d714ee1"/>
    <p:sldId xmlns:r="http://schemas.openxmlformats.org/officeDocument/2006/relationships" id="278" r:id="R9048119589bc413b"/>
    <p:sldId xmlns:r="http://schemas.openxmlformats.org/officeDocument/2006/relationships" id="279" r:id="R290631683243453e"/>
    <p:sldId xmlns:r="http://schemas.openxmlformats.org/officeDocument/2006/relationships" id="280" r:id="R277d781752144f48"/>
    <p:sldId xmlns:r="http://schemas.openxmlformats.org/officeDocument/2006/relationships" id="281" r:id="Raa01520ca5de4ac7"/>
    <p:sldId xmlns:r="http://schemas.openxmlformats.org/officeDocument/2006/relationships" id="282" r:id="Rb7130379429e4744"/>
    <p:sldId xmlns:r="http://schemas.openxmlformats.org/officeDocument/2006/relationships" id="283" r:id="Racde3a790cb34beb"/>
    <p:sldId xmlns:r="http://schemas.openxmlformats.org/officeDocument/2006/relationships" id="284" r:id="R1a91ddf1c9ce41f2"/>
    <p:sldId xmlns:r="http://schemas.openxmlformats.org/officeDocument/2006/relationships" id="285" r:id="R0f48c345948d4a3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c7c1aea3194b00" /><Relationship Type="http://schemas.openxmlformats.org/officeDocument/2006/relationships/slideMaster" Target="/ppt/slideMasters/slideMaster1.xml" Id="R56837ba5a73446f8" /><Relationship Type="http://schemas.openxmlformats.org/officeDocument/2006/relationships/notesMaster" Target="/ppt/notesMasters/notesMaster1.xml" Id="R70c4ffe89a924b65" /><Relationship Type="http://schemas.openxmlformats.org/officeDocument/2006/relationships/presProps" Target="/ppt/presProps.xml" Id="R4fcb9018ed2e4c9a" /><Relationship Type="http://schemas.openxmlformats.org/officeDocument/2006/relationships/tableStyles" Target="/ppt/tableStyles.xml" Id="Raf08b00ff04b4d72" /><Relationship Type="http://schemas.openxmlformats.org/officeDocument/2006/relationships/slide" Target="/ppt/slides/slide1.xml" Id="Ra39666493de84cb3" /><Relationship Type="http://schemas.openxmlformats.org/officeDocument/2006/relationships/slide" Target="/ppt/slides/slide2.xml" Id="R3f46988cc6694159" /><Relationship Type="http://schemas.openxmlformats.org/officeDocument/2006/relationships/slide" Target="/ppt/slides/slide3.xml" Id="R1e91ab157a7347e4" /><Relationship Type="http://schemas.openxmlformats.org/officeDocument/2006/relationships/slide" Target="/ppt/slides/slide4.xml" Id="R0ef22df60c924c66" /><Relationship Type="http://schemas.openxmlformats.org/officeDocument/2006/relationships/slide" Target="/ppt/slides/slide5.xml" Id="Re161d1d015094b4f" /><Relationship Type="http://schemas.openxmlformats.org/officeDocument/2006/relationships/slide" Target="/ppt/slides/slide6.xml" Id="R68fc24cf6a2542ae" /><Relationship Type="http://schemas.openxmlformats.org/officeDocument/2006/relationships/slide" Target="/ppt/slides/slide7.xml" Id="R0fe6fef124734467" /><Relationship Type="http://schemas.openxmlformats.org/officeDocument/2006/relationships/slide" Target="/ppt/slides/slide8.xml" Id="R053f88c650c74ec5" /><Relationship Type="http://schemas.openxmlformats.org/officeDocument/2006/relationships/slide" Target="/ppt/slides/slide9.xml" Id="R94d3d8a87b1c4004" /><Relationship Type="http://schemas.openxmlformats.org/officeDocument/2006/relationships/slide" Target="/ppt/slides/slide10.xml" Id="R83b32b47d8c8460c" /><Relationship Type="http://schemas.openxmlformats.org/officeDocument/2006/relationships/slide" Target="/ppt/slides/slide11.xml" Id="Raa14ca135031459d" /><Relationship Type="http://schemas.openxmlformats.org/officeDocument/2006/relationships/slide" Target="/ppt/slides/slide12.xml" Id="R60d231a347204e88" /><Relationship Type="http://schemas.openxmlformats.org/officeDocument/2006/relationships/slide" Target="/ppt/slides/slide13.xml" Id="R4b45c125cb8f457c" /><Relationship Type="http://schemas.openxmlformats.org/officeDocument/2006/relationships/slide" Target="/ppt/slides/slide14.xml" Id="R4f6a20b781404fe3" /><Relationship Type="http://schemas.openxmlformats.org/officeDocument/2006/relationships/slide" Target="/ppt/slides/slide15.xml" Id="R33082cc99dfb4f05" /><Relationship Type="http://schemas.openxmlformats.org/officeDocument/2006/relationships/slide" Target="/ppt/slides/slide16.xml" Id="R3d47f8284388425b" /><Relationship Type="http://schemas.openxmlformats.org/officeDocument/2006/relationships/slide" Target="/ppt/slides/slide17.xml" Id="R8f6c626d523a43da" /><Relationship Type="http://schemas.openxmlformats.org/officeDocument/2006/relationships/slide" Target="/ppt/slides/slide18.xml" Id="Ree3e32988041417e" /><Relationship Type="http://schemas.openxmlformats.org/officeDocument/2006/relationships/slide" Target="/ppt/slides/slide19.xml" Id="Rfb9d4351ddd3455b" /><Relationship Type="http://schemas.openxmlformats.org/officeDocument/2006/relationships/slide" Target="/ppt/slides/slide20.xml" Id="Re41ec91ed8d546f6" /><Relationship Type="http://schemas.openxmlformats.org/officeDocument/2006/relationships/slide" Target="/ppt/slides/slide21.xml" Id="R75ee8f4f7cbc40d5" /><Relationship Type="http://schemas.openxmlformats.org/officeDocument/2006/relationships/slide" Target="/ppt/slides/slide22.xml" Id="R3d129b783d714ee1" /><Relationship Type="http://schemas.openxmlformats.org/officeDocument/2006/relationships/slide" Target="/ppt/slides/slide23.xml" Id="R9048119589bc413b" /><Relationship Type="http://schemas.openxmlformats.org/officeDocument/2006/relationships/slide" Target="/ppt/slides/slide24.xml" Id="R290631683243453e" /><Relationship Type="http://schemas.openxmlformats.org/officeDocument/2006/relationships/slide" Target="/ppt/slides/slide25.xml" Id="R277d781752144f48" /><Relationship Type="http://schemas.openxmlformats.org/officeDocument/2006/relationships/slide" Target="/ppt/slides/slide26.xml" Id="Raa01520ca5de4ac7" /><Relationship Type="http://schemas.openxmlformats.org/officeDocument/2006/relationships/slide" Target="/ppt/slides/slide27.xml" Id="Rb7130379429e4744" /><Relationship Type="http://schemas.openxmlformats.org/officeDocument/2006/relationships/slide" Target="/ppt/slides/slide28.xml" Id="Racde3a790cb34beb" /><Relationship Type="http://schemas.openxmlformats.org/officeDocument/2006/relationships/slide" Target="/ppt/slides/slide29.xml" Id="R1a91ddf1c9ce41f2" /><Relationship Type="http://schemas.openxmlformats.org/officeDocument/2006/relationships/slide" Target="/ppt/slides/slide30.xml" Id="R0f48c345948d4a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4f698921904a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3c47199c0c4950" /><Relationship Type="http://schemas.openxmlformats.org/officeDocument/2006/relationships/notesMaster" Target="/ppt/notesMasters/notesMaster1.xml" Id="R036a5d29156147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3565b4b2f844b9" /><Relationship Type="http://schemas.openxmlformats.org/officeDocument/2006/relationships/notesMaster" Target="/ppt/notesMasters/notesMaster1.xml" Id="Rd276da4ee8aa45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9d040ebb8a04a09" /><Relationship Type="http://schemas.openxmlformats.org/officeDocument/2006/relationships/notesMaster" Target="/ppt/notesMasters/notesMaster1.xml" Id="R3bb74b4e7ab949b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6f31fce497f46fb" /><Relationship Type="http://schemas.openxmlformats.org/officeDocument/2006/relationships/notesMaster" Target="/ppt/notesMasters/notesMaster1.xml" Id="Rae754ff0a09c4b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f64e52673d448f" /><Relationship Type="http://schemas.openxmlformats.org/officeDocument/2006/relationships/notesMaster" Target="/ppt/notesMasters/notesMaster1.xml" Id="Rac683b046f0947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5830f368d184770" /><Relationship Type="http://schemas.openxmlformats.org/officeDocument/2006/relationships/notesMaster" Target="/ppt/notesMasters/notesMaster1.xml" Id="Ra018e644504a478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7fbc9109bb045d1" /><Relationship Type="http://schemas.openxmlformats.org/officeDocument/2006/relationships/notesMaster" Target="/ppt/notesMasters/notesMaster1.xml" Id="R43ae5a6c7ea8420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cc33f772f934b14" /><Relationship Type="http://schemas.openxmlformats.org/officeDocument/2006/relationships/notesMaster" Target="/ppt/notesMasters/notesMaster1.xml" Id="Rc506479d03ce48e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686d22216a84ffb" /><Relationship Type="http://schemas.openxmlformats.org/officeDocument/2006/relationships/notesMaster" Target="/ppt/notesMasters/notesMaster1.xml" Id="R8e5eccaeedd4488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03ca1d09c9e41b9" /><Relationship Type="http://schemas.openxmlformats.org/officeDocument/2006/relationships/notesMaster" Target="/ppt/notesMasters/notesMaster1.xml" Id="R8be6363be4a9492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a183ef96e1b4d7f" /><Relationship Type="http://schemas.openxmlformats.org/officeDocument/2006/relationships/notesMaster" Target="/ppt/notesMasters/notesMaster1.xml" Id="Rce910d3de76b4dd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35db3028be34bd6" /><Relationship Type="http://schemas.openxmlformats.org/officeDocument/2006/relationships/notesMaster" Target="/ppt/notesMasters/notesMaster1.xml" Id="Rf25eb70f407b466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5d9a2a2ca2b416f" /><Relationship Type="http://schemas.openxmlformats.org/officeDocument/2006/relationships/notesMaster" Target="/ppt/notesMasters/notesMaster1.xml" Id="Rdb7b361e837744a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5a858eb634c4eac" /><Relationship Type="http://schemas.openxmlformats.org/officeDocument/2006/relationships/notesMaster" Target="/ppt/notesMasters/notesMaster1.xml" Id="Raa735f6f71ac4bd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4b829956bb84956" /><Relationship Type="http://schemas.openxmlformats.org/officeDocument/2006/relationships/notesMaster" Target="/ppt/notesMasters/notesMaster1.xml" Id="R338a49a316c9401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df260bff6814775" /><Relationship Type="http://schemas.openxmlformats.org/officeDocument/2006/relationships/notesMaster" Target="/ppt/notesMasters/notesMaster1.xml" Id="Rc968fb6d4350489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b3af7a35b1f4db8" /><Relationship Type="http://schemas.openxmlformats.org/officeDocument/2006/relationships/notesMaster" Target="/ppt/notesMasters/notesMaster1.xml" Id="R1ba61c6eb9b748d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bd6893d61b24f19" /><Relationship Type="http://schemas.openxmlformats.org/officeDocument/2006/relationships/notesMaster" Target="/ppt/notesMasters/notesMaster1.xml" Id="Rf3198bd8d2354f7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1dbd6c5375742e0" /><Relationship Type="http://schemas.openxmlformats.org/officeDocument/2006/relationships/notesMaster" Target="/ppt/notesMasters/notesMaster1.xml" Id="Rf07f5f54c7a149f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04c8347900046fe" /><Relationship Type="http://schemas.openxmlformats.org/officeDocument/2006/relationships/notesMaster" Target="/ppt/notesMasters/notesMaster1.xml" Id="Rf603555f3cfa4fb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be962691dd7477f" /><Relationship Type="http://schemas.openxmlformats.org/officeDocument/2006/relationships/notesMaster" Target="/ppt/notesMasters/notesMaster1.xml" Id="Rc407b81d7b3946b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c121489100f4015" /><Relationship Type="http://schemas.openxmlformats.org/officeDocument/2006/relationships/notesMaster" Target="/ppt/notesMasters/notesMaster1.xml" Id="R892e7c915be14cc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d90219e5b724073" /><Relationship Type="http://schemas.openxmlformats.org/officeDocument/2006/relationships/notesMaster" Target="/ppt/notesMasters/notesMaster1.xml" Id="R1c9baddc812a4fd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a5a276c693c4e43" /><Relationship Type="http://schemas.openxmlformats.org/officeDocument/2006/relationships/notesMaster" Target="/ppt/notesMasters/notesMaster1.xml" Id="Rc8ffdf544e7b4bd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2c30c80656741ef" /><Relationship Type="http://schemas.openxmlformats.org/officeDocument/2006/relationships/notesMaster" Target="/ppt/notesMasters/notesMaster1.xml" Id="R4619fe9cf1934e2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07e47001bc64b03" /><Relationship Type="http://schemas.openxmlformats.org/officeDocument/2006/relationships/notesMaster" Target="/ppt/notesMasters/notesMaster1.xml" Id="R13afc8bd61cd43a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f4fc0154ac5462c" /><Relationship Type="http://schemas.openxmlformats.org/officeDocument/2006/relationships/notesMaster" Target="/ppt/notesMasters/notesMaster1.xml" Id="R1fe74f634f28481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b652c7e7f6f42ab" /><Relationship Type="http://schemas.openxmlformats.org/officeDocument/2006/relationships/notesMaster" Target="/ppt/notesMasters/notesMaster1.xml" Id="Rfa53418a505f4de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8ccb5c403e541bb" /><Relationship Type="http://schemas.openxmlformats.org/officeDocument/2006/relationships/notesMaster" Target="/ppt/notesMasters/notesMaster1.xml" Id="Rf5116a03358d48f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dc396f282974045" /><Relationship Type="http://schemas.openxmlformats.org/officeDocument/2006/relationships/notesMaster" Target="/ppt/notesMasters/notesMaster1.xml" Id="R8166ad2a53324b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提供資料：30枚構成（貼り付けたテキスト.txt）。計画・仮説・進捗は提供資料に基づく。［ ］は差し替え欄。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提供資料：30枚構成（貼り付けたテキスト.txt）。計画・仮説・進捗は提供資料に基づく。［ ］は差し替え欄。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提供資料：30枚構成（貼り付けたテキスト.txt）。計画・仮説・進捗は提供資料に基づく。［ ］は差し替え欄。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提供資料：30枚構成（貼り付けたテキスト.txt）。計画・仮説・進捗は提供資料に基づく。［ ］は差し替え欄。</a:t>
            </a:r>
          </a:p>
          <a:p xmlns:a="http://schemas.openxmlformats.org/drawingml/2006/main">
            <a:r>
              <a:t>添付資料が示す出典：https://webassembly.org/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提供資料：30枚構成（貼り付けたテキスト.txt）。計画・仮説・進捗は提供資料に基づく。［ ］は差し替え欄。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提供資料：30枚構成（貼り付けたテキスト.txt）。計画・仮説・進捗は提供資料に基づく。［ ］は差し替え欄。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提供資料：30枚構成（貼り付けたテキスト.txt）。計画・仮説・進捗は提供資料に基づく。［ ］は差し替え欄。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提供資料：30枚構成（貼り付けたテキスト.txt）。計画・仮説・進捗は提供資料に基づく。［ ］は差し替え欄。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提供資料：30枚構成（貼り付けたテキスト.txt）。計画・仮説・進捗は提供資料に基づく。［ ］は差し替え欄。</a:t>
            </a:r>
          </a:p>
          <a:p xmlns:a="http://schemas.openxmlformats.org/drawingml/2006/main">
            <a:r>
              <a:t>添付資料が示す出典：https://d3ccyth396mz21.cloudfront.net/publications/minerray-semantics-aware-analysis-for-ever-evolving-cryptojacking-detection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提供資料：30枚構成（貼り付けたテキスト.txt）。計画・仮説・進捗は提供資料に基づく。［ ］は差し替え欄。</a:t>
            </a:r>
          </a:p>
          <a:p xmlns:a="http://schemas.openxmlformats.org/drawingml/2006/main">
            <a:r>
              <a:t>添付資料が示す出典：https://www.sciencedirect.com/science/article/pii/S0167404823002067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提供資料：30枚構成（貼り付けたテキスト.txt）。計画・仮説・進捗は提供資料に基づく。［ ］は差し替え欄。</a:t>
            </a:r>
          </a:p>
          <a:p xmlns:a="http://schemas.openxmlformats.org/drawingml/2006/main">
            <a:r>
              <a:t>添付資料が示す出典：https://github.com/bytecodealliance/wasm-tools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提供資料：30枚構成（貼り付けたテキスト.txt）。計画・仮説・進捗は提供資料に基づく。［ ］は差し替え欄。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提供資料：30枚構成（貼り付けたテキスト.txt）。計画・仮説・進捗は提供資料に基づく。［ ］は差し替え欄。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提供資料：30枚構成（貼り付けたテキスト.txt）。計画・仮説・進捗は提供資料に基づく。［ ］は差し替え欄。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提供資料：30枚構成（貼り付けたテキスト.txt）。計画・仮説・進捗は提供資料に基づく。［ ］は差し替え欄。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提供資料：30枚構成（貼り付けたテキスト.txt）。計画・仮説・進捗は提供資料に基づく。［ ］は差し替え欄。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提供資料：30枚構成（貼り付けたテキスト.txt）。計画・仮説・進捗は提供資料に基づく。［ ］は差し替え欄。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提供資料：30枚構成（貼り付けたテキスト.txt）。計画・仮説・進捗は提供資料に基づく。［ ］は差し替え欄。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提供資料：30枚構成（貼り付けたテキスト.txt）。計画・仮説・進捗は提供資料に基づく。［ ］は差し替え欄。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提供資料：30枚構成（貼り付けたテキスト.txt）。計画・仮説・進捗は提供資料に基づく。［ ］は差し替え欄。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提供資料：30枚構成（貼り付けたテキスト.txt）。計画・仮説・進捗は提供資料に基づく。［ ］は差し替え欄。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提供資料：30枚構成（貼り付けたテキスト.txt）。計画・仮説・進捗は提供資料に基づく。［ ］は差し替え欄。</a:t>
            </a:r>
          </a:p>
          <a:p xmlns:a="http://schemas.openxmlformats.org/drawingml/2006/main">
            <a:r>
              <a:t>添付資料が示す出典：https://starbed.nict.go.jp/archives/starbed4/en/equipment/index.html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提供資料：30枚構成（貼り付けたテキスト.txt）。計画・仮説・進捗は提供資料に基づく。［ ］は差し替え欄。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提供資料：30枚構成（貼り付けたテキスト.txt）。計画・仮説・進捗は提供資料に基づく。［ ］は差し替え欄。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提供資料：30枚構成（貼り付けたテキスト.txt）。計画・仮説・進捗は提供資料に基づく。［ ］は差し替え欄。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提供資料：30枚構成（貼り付けたテキスト.txt）。計画・仮説・進捗は提供資料に基づく。［ ］は差し替え欄。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提供資料：30枚構成（貼り付けたテキスト.txt）。計画・仮説・進捗は提供資料に基づく。［ ］は差し替え欄。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提供資料：30枚構成（貼り付けたテキスト.txt）。計画・仮説・進捗は提供資料に基づく。［ ］は差し替え欄。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提供資料：30枚構成（貼り付けたテキスト.txt）。計画・仮説・進捗は提供資料に基づく。［ ］は差し替え欄。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提供資料：30枚構成（貼り付けたテキスト.txt）。計画・仮説・進捗は提供資料に基づく。［ ］は差し替え欄。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0b0d49157747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1a9c49937047a6" /><Relationship Type="http://schemas.openxmlformats.org/officeDocument/2006/relationships/slideLayout" Target="/ppt/slideLayouts/slideLayout1.xml" Id="Re0308c78d220432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308c78d220432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995453c8eb4ac8" /><Relationship Type="http://schemas.openxmlformats.org/officeDocument/2006/relationships/notesSlide" Target="/ppt/notesSlides/notesSlide1.xml" Id="R629258b3ae6b40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1e1b0f56054fc7" /><Relationship Type="http://schemas.openxmlformats.org/officeDocument/2006/relationships/notesSlide" Target="/ppt/notesSlides/notesSlide2.xml" Id="R9c7f641effcd4a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37100789a14cce" /><Relationship Type="http://schemas.openxmlformats.org/officeDocument/2006/relationships/notesSlide" Target="/ppt/notesSlides/notesSlide3.xml" Id="R3b8522a28b024ad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f8a725d1d3458a" /><Relationship Type="http://schemas.openxmlformats.org/officeDocument/2006/relationships/notesSlide" Target="/ppt/notesSlides/notesSlide4.xml" Id="Raabef89ddb0e47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c569a8480b4130" /><Relationship Type="http://schemas.openxmlformats.org/officeDocument/2006/relationships/notesSlide" Target="/ppt/notesSlides/notesSlide5.xml" Id="R2487204244904b3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2548742c074360" /><Relationship Type="http://schemas.openxmlformats.org/officeDocument/2006/relationships/notesSlide" Target="/ppt/notesSlides/notesSlide6.xml" Id="R61dea6cda809428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ed9f70f70d4d07" /><Relationship Type="http://schemas.openxmlformats.org/officeDocument/2006/relationships/notesSlide" Target="/ppt/notesSlides/notesSlide7.xml" Id="R27f82974e60244b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cb74a79b1e46b3" /><Relationship Type="http://schemas.openxmlformats.org/officeDocument/2006/relationships/notesSlide" Target="/ppt/notesSlides/notesSlide8.xml" Id="R16e1703055f344e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08858c76ef410e" /><Relationship Type="http://schemas.openxmlformats.org/officeDocument/2006/relationships/notesSlide" Target="/ppt/notesSlides/notesSlide9.xml" Id="Rf289cea60dfc4a3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1b2189137b419d" /><Relationship Type="http://schemas.openxmlformats.org/officeDocument/2006/relationships/notesSlide" Target="/ppt/notesSlides/notesSlide10.xml" Id="Rb2ee5e3a94934f6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44c3e88260445e" /><Relationship Type="http://schemas.openxmlformats.org/officeDocument/2006/relationships/notesSlide" Target="/ppt/notesSlides/notesSlide11.xml" Id="Rc8d3a8bb3c4d4f4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3e0208dc624a28" /><Relationship Type="http://schemas.openxmlformats.org/officeDocument/2006/relationships/notesSlide" Target="/ppt/notesSlides/notesSlide12.xml" Id="R9fa087552ce5459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130ac9bfce4445" /><Relationship Type="http://schemas.openxmlformats.org/officeDocument/2006/relationships/notesSlide" Target="/ppt/notesSlides/notesSlide13.xml" Id="Rda2b687de30d493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5833a5f2684082" /><Relationship Type="http://schemas.openxmlformats.org/officeDocument/2006/relationships/notesSlide" Target="/ppt/notesSlides/notesSlide14.xml" Id="R249c0fef719c42e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8f2687ed8845e4" /><Relationship Type="http://schemas.openxmlformats.org/officeDocument/2006/relationships/notesSlide" Target="/ppt/notesSlides/notesSlide15.xml" Id="R11ef9ab7710642c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8f78821de14469" /><Relationship Type="http://schemas.openxmlformats.org/officeDocument/2006/relationships/notesSlide" Target="/ppt/notesSlides/notesSlide16.xml" Id="Ra30eaf2883fe4f6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a9b36f49664285" /><Relationship Type="http://schemas.openxmlformats.org/officeDocument/2006/relationships/notesSlide" Target="/ppt/notesSlides/notesSlide17.xml" Id="R444507cad71741a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0582023111426d" /><Relationship Type="http://schemas.openxmlformats.org/officeDocument/2006/relationships/notesSlide" Target="/ppt/notesSlides/notesSlide18.xml" Id="R1ca2f6653cf0456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7576ee53774e06" /><Relationship Type="http://schemas.openxmlformats.org/officeDocument/2006/relationships/notesSlide" Target="/ppt/notesSlides/notesSlide19.xml" Id="R7d20a77467d9419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0455ac92b943e1" /><Relationship Type="http://schemas.openxmlformats.org/officeDocument/2006/relationships/notesSlide" Target="/ppt/notesSlides/notesSlide20.xml" Id="R341bbe05a2944f1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d732bc3eda4fb7" /><Relationship Type="http://schemas.openxmlformats.org/officeDocument/2006/relationships/notesSlide" Target="/ppt/notesSlides/notesSlide21.xml" Id="R2924b76409f74be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541cfa333a42bb" /><Relationship Type="http://schemas.openxmlformats.org/officeDocument/2006/relationships/notesSlide" Target="/ppt/notesSlides/notesSlide22.xml" Id="R175f6762085145a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d736da4a934ff3" /><Relationship Type="http://schemas.openxmlformats.org/officeDocument/2006/relationships/notesSlide" Target="/ppt/notesSlides/notesSlide23.xml" Id="Rb53f4353f9fc4f3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ebcb3c2e734fc4" /><Relationship Type="http://schemas.openxmlformats.org/officeDocument/2006/relationships/notesSlide" Target="/ppt/notesSlides/notesSlide24.xml" Id="R2084eab43211402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d4e1fa3af24381" /><Relationship Type="http://schemas.openxmlformats.org/officeDocument/2006/relationships/notesSlide" Target="/ppt/notesSlides/notesSlide25.xml" Id="R83dc383857ee45a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4b64c341374f28" /><Relationship Type="http://schemas.openxmlformats.org/officeDocument/2006/relationships/notesSlide" Target="/ppt/notesSlides/notesSlide26.xml" Id="R6e1448ffa84f4c9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582fd5f70c4e5b" /><Relationship Type="http://schemas.openxmlformats.org/officeDocument/2006/relationships/notesSlide" Target="/ppt/notesSlides/notesSlide27.xml" Id="R59bb03acc8194fe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3e452b34de45d5" /><Relationship Type="http://schemas.openxmlformats.org/officeDocument/2006/relationships/notesSlide" Target="/ppt/notesSlides/notesSlide28.xml" Id="R92bb3234bcd7433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1dfbf8e4e7414a" /><Relationship Type="http://schemas.openxmlformats.org/officeDocument/2006/relationships/notesSlide" Target="/ppt/notesSlides/notesSlide29.xml" Id="R68e2373b99c943b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e1210c7fc947a6" /><Relationship Type="http://schemas.openxmlformats.org/officeDocument/2006/relationships/notesSlide" Target="/ppt/notesSlides/notesSlide30.xml" Id="Rb0b5aa3c3f66455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65CE63-2A24-4273-AD0D-B655F71E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研究発表テンプレート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077420-16E1-4B71-9031-596407F4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45B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739B9F-4A11-4EBD-B69B-914B33762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027B5A-1C5C-406B-8C6A-989729DF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3822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3900" b="1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難読化されたWebAssembly</a:t>
            </a:r>
          </a:p>
          <a:p xmlns:a="http://schemas.openxmlformats.org/drawingml/2006/main">
            <a:pPr>
              <a:defRPr sz="3900" b="1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3900" b="1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クリプトジャッキングの</a:t>
            </a:r>
          </a:p>
          <a:p xmlns:a="http://schemas.openxmlformats.org/drawingml/2006/main">
            <a:pPr>
              <a:defRPr sz="3900" b="1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3900" b="1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検知耐性評価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7A3C03-39AC-4171-ABFB-39426D9F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wasm-mutateによるバイナリ多様化とコード正規化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F548E7-7464-43BB-AF6C-D850F36D1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9725"/>
            <a:ext cx="857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［氏名］  ［所属］</a:t>
            </a:r>
          </a:p>
          <a:p xmlns:a="http://schemas.openxmlformats.org/drawingml/2006/main">
            <a:pPr>
              <a:defRPr sz="1650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［発表日］</a:t>
            </a:r>
          </a:p>
        </p:txBody>
      </p:sp>
    </p:spTree>
    <p:extLst>
      <p:ext uri="{BB962C8B-B14F-4D97-AF65-F5344CB8AC3E}">
        <p14:creationId xmlns:p14="http://schemas.microsoft.com/office/powerpoint/2010/main" val="15443407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FA0D50-EA8B-4BD1-83CD-A31A92E6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研究の全体像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9A491D-7123-4EC2-B16E-D6216983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45B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B25B41-FCB2-4E53-A7E7-BCB1149F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コードの形を変えたときの検知結果と、正規化の効果を比較する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238983-BF2B-4057-8816-FF3BCC72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7261A3-9277-4521-ACC6-64C19B92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24765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F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D67D16-DE09-4918-9283-E76E5E8E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0515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CB1ED3-351E-4244-A94C-C22EF1BF6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43300"/>
            <a:ext cx="2057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検体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824C94-5249-4411-94FB-678A1C1C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38625"/>
            <a:ext cx="2057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元Wasmを用意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FE231B-B86F-4D11-9CF6-E5044917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64807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338F07-7EB3-4991-9F56-2B0F8C29A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914650"/>
            <a:ext cx="24765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D043E2-3EFB-4FF2-916F-127888CB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10515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E2B7D4-78A2-43F3-B6DE-E69AF4AA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543300"/>
            <a:ext cx="2057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変異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DFB0AF-5F19-4B12-A427-DCC41523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238625"/>
            <a:ext cx="2057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意味を保つ変形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613465-EDB7-4A4D-A309-58F0D8A7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4807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E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32F002-DB2F-4345-8BA3-8A790D3E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14650"/>
            <a:ext cx="24765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A983B3-45AC-4ADF-8CC8-7C8C6C77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0515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42001D-A0B4-4222-948B-1240465F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43300"/>
            <a:ext cx="2057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評価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0E84BE-6565-4732-ABC7-468D7EE2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38625"/>
            <a:ext cx="2057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実製品で比較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D41532-BB26-4EF4-8983-7E45AE9F1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64807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E5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BB26E8-A1E4-4513-A771-F1B52615D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914650"/>
            <a:ext cx="24765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26ACAD-88C8-401D-BAFD-E60920CD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0515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A2A351-CD62-481F-B348-CA3754EB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43300"/>
            <a:ext cx="2057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正規化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68A443-632E-4E67-A40F-66191602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238625"/>
            <a:ext cx="2057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共通表現で再評価</a:t>
            </a:r>
          </a:p>
        </p:txBody>
      </p:sp>
    </p:spTree>
    <p:extLst>
      <p:ext uri="{BB962C8B-B14F-4D97-AF65-F5344CB8AC3E}">
        <p14:creationId xmlns:p14="http://schemas.microsoft.com/office/powerpoint/2010/main" val="12629789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A5B69E-8629-420A-9D2A-46822831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今日の相談事項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C21428-03B0-4116-B0AD-606013DAB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45B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2AE2B7-39EF-4BC7-A83E-6FA4A2E60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実験設計を固めるために、StarBEDでの運用条件を確認する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705A91-E5EC-4AFA-B6BD-9F2457DD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72F902-29FD-4C74-9865-7F2E579E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34544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F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5424F6-3427-4BDA-924C-D19ADE5F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9900"/>
            <a:ext cx="2959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ネットワーク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2B123D-5DC0-4636-8A92-C2C9B6737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29591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実験系と管理系の分離</a:t>
            </a:r>
          </a:p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EDRの外部接続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6B4FDF-A931-4C88-9CCD-11105E5F7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743200"/>
            <a:ext cx="34544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BDC19B-665C-4DD4-BFAA-CC1C4B14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6450" y="3009900"/>
            <a:ext cx="2959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観測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E2027E-FBD2-4B23-AB6A-4C9359E10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6450" y="3810000"/>
            <a:ext cx="29591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ログ収集</a:t>
            </a:r>
          </a:p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時刻同期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C02018-36BF-4DC9-9F7C-5ADB65CE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2743200"/>
            <a:ext cx="34544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5DEBA9-E497-455F-957C-4A55D1A6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3009900"/>
            <a:ext cx="2959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実験運用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3F2E72-3F93-41F7-946B-F2674353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3810000"/>
            <a:ext cx="29591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安全性と再現性</a:t>
            </a:r>
          </a:p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実験規模と復元方法</a:t>
            </a:r>
          </a:p>
        </p:txBody>
      </p:sp>
    </p:spTree>
    <p:extLst>
      <p:ext uri="{BB962C8B-B14F-4D97-AF65-F5344CB8AC3E}">
        <p14:creationId xmlns:p14="http://schemas.microsoft.com/office/powerpoint/2010/main" val="13170408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2FCC96-5936-439B-A7B8-21764EED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WebAssemblyとは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0D093B-B892-45CD-8892-9E30FC01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45B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80FFE8-81A2-45A5-AE65-28A02BAC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Wasmは、ブラウザ内外で動くバイナリ命令形式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E16612-3713-4ED8-8B2E-EE4450C4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8219F2-14D0-4424-A47E-115CB026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34036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F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3208C6-E55B-499F-B811-A07DFCFF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05150"/>
            <a:ext cx="298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A1E07D-17D5-4C48-A394-602D402B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43300"/>
            <a:ext cx="298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ソース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0711F0-92E3-4126-BD52-2DFC2C0F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38625"/>
            <a:ext cx="298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C/C++、Rustなど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1146A5-5873-42A4-B123-F7D992EB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9400" y="364807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E621D0-89E0-4ADF-9972-D28646C5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914650"/>
            <a:ext cx="34036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4A1B69-164E-43D5-9DB7-C47BF07AB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3105150"/>
            <a:ext cx="298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965A1B-4744-4601-B1ED-DBF6F1BA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3543300"/>
            <a:ext cx="298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コンパイル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3A4B92-037E-428D-A754-3BAFC8F11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4238625"/>
            <a:ext cx="298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WebAssembly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6BC6A8-F14B-453C-8E62-792D459F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800" y="364807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E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F39C48-24B4-464B-B1EE-DC04E0134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2914650"/>
            <a:ext cx="34036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D74C7C-D760-49A4-8204-CA6DCBE3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3105150"/>
            <a:ext cx="298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441B8B-7CB4-4E6A-B4D7-6A069A786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3543300"/>
            <a:ext cx="298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実行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31C070-2EC1-4E0A-8C3E-9D49359A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4238625"/>
            <a:ext cx="298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ブラウザ・ランタイム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735654-A516-426D-8F10-956AAB0DF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出典：https://webassembly.org/</a:t>
            </a:r>
          </a:p>
        </p:txBody>
      </p:sp>
    </p:spTree>
    <p:extLst>
      <p:ext uri="{BB962C8B-B14F-4D97-AF65-F5344CB8AC3E}">
        <p14:creationId xmlns:p14="http://schemas.microsoft.com/office/powerpoint/2010/main" val="4482701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217481-2B0E-40DA-A331-47E60D04B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ブラウザ内でWasmが動く仕組み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58FD52-BDA9-4486-A0F0-EFEE6D72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45B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3CEB82-C573-4084-9488-B72A8CCF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HTML・JavaScript・Wasmが連携して計算を実行する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E21987-A5F0-4F17-BDF1-06FC9CAD8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4F00BD-34E0-42F5-AF73-C8280BE4A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24765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F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2120BB-1321-47F8-84E1-DDFFD56C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0515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3655F2-CC7D-4C21-9048-1F47F4CC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43300"/>
            <a:ext cx="2057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HTML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CD63D7-F7A0-4DF0-BEE1-72B62693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38625"/>
            <a:ext cx="2057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ページを取得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A004C8-C132-449E-874A-704341A1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64807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976A69-9CB3-4B85-AC60-3306D75B9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914650"/>
            <a:ext cx="24765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5E28B2-3D86-4991-9845-0D2A4597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10515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F7719A-EF6A-4159-B120-96595BA4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543300"/>
            <a:ext cx="2057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JavaScript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940903-559C-4331-91EC-7783D74AF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238625"/>
            <a:ext cx="2057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Wasmをロード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621549-DB81-4BBB-B115-F6AF0E3A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4807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E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E18AB9-432B-4BB0-A129-BFFB23D82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14650"/>
            <a:ext cx="24765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7F5FE0-4BFE-405E-8D97-453990068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0515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C2F933-A6C4-42B1-B1D4-DC5DC8800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43300"/>
            <a:ext cx="2057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Web Worker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D627BF-3EEF-40A0-A8B2-BAFC03725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38625"/>
            <a:ext cx="2057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計算を実行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F17C39-FEAC-41D4-850C-9117AE827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64807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E5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5B40B0-B019-433E-B403-F7152EF7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914650"/>
            <a:ext cx="24765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E6B306-BC38-4E81-B43F-25346F27B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05150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F8A1F1-2468-4048-8858-1333F4A7F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43300"/>
            <a:ext cx="2057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WebSocket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A5C8D2-48A8-461B-8337-BA790541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238625"/>
            <a:ext cx="2057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サービスと通信</a:t>
            </a:r>
          </a:p>
        </p:txBody>
      </p:sp>
    </p:spTree>
    <p:extLst>
      <p:ext uri="{BB962C8B-B14F-4D97-AF65-F5344CB8AC3E}">
        <p14:creationId xmlns:p14="http://schemas.microsoft.com/office/powerpoint/2010/main" val="13568617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3B449F-8654-4E82-933D-1F2A6DAD3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Wasmの用途と悪用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B27DDE-3E7C-4D9E-A021-5E75C774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45B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820252-E27F-4910-A854-ACF64279E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用途と利用者の同意を踏まえて、悪性を判断する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2B3A17-DF6C-4EFF-BCFE-1DEFC6E4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616CC6-7DBA-42F7-A2E8-8F27E7662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52959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F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54B33F-5618-49FD-BC0D-5C4183FC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9900"/>
            <a:ext cx="4800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正当な用途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3479EF-B843-48DA-BEB0-C6435636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4800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ゲーム・画像処理</a:t>
            </a:r>
          </a:p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動画処理・科学計算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70FACE-32A0-4A89-A919-D1C0705F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43200"/>
            <a:ext cx="52959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AA02D5-95AE-42D8-A4CB-EAEFAA43C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09900"/>
            <a:ext cx="4800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悪用の例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DFA865-7B57-4E76-B00F-400DF48B4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10000"/>
            <a:ext cx="4800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無断マイニング</a:t>
            </a:r>
          </a:p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マルウェア処理の隠蔽</a:t>
            </a:r>
          </a:p>
        </p:txBody>
      </p:sp>
    </p:spTree>
    <p:extLst>
      <p:ext uri="{BB962C8B-B14F-4D97-AF65-F5344CB8AC3E}">
        <p14:creationId xmlns:p14="http://schemas.microsoft.com/office/powerpoint/2010/main" val="847556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8CFD1B-C41A-4DBE-9AB2-292A2B35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クリプトジャッキングの関係図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6E9BD7-CBA6-45AE-B993-D09B7506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45B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44C67E-2E8C-48A3-8C4C-F7C449F6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利用者の同意なく計算資源をマイニングに使用する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EF6DCD-A933-41BD-AA6D-F8EF2BC1B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49992A-BA55-456E-AE04-46D43D18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34036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F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BE94C4-D303-40B6-918A-39BB5BBA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05150"/>
            <a:ext cx="298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1ACA95-2089-474F-B88A-29CB8F42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43300"/>
            <a:ext cx="298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配信サーバー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EA74A7-1BE6-4CEE-B677-01F42D3F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38625"/>
            <a:ext cx="298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ページとWasmを配信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B023C9-074D-4CD7-ADA7-F5F3C87B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9400" y="364807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2AE409-C9E5-4398-91BD-C83C4C89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914650"/>
            <a:ext cx="34036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4B960F-5BF3-4CA2-AACF-E8A8E21DC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3105150"/>
            <a:ext cx="298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2DEBA5-0BBB-433A-B8F5-18F05980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3543300"/>
            <a:ext cx="298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利用者のブラウザ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03ADA8-1A1A-41A6-892A-06DCF79D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4238625"/>
            <a:ext cx="298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計算資源を消費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EC1790-AE3E-4B51-A694-2935E875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800" y="364807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E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D0005D-E852-4884-8968-B153E93A3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2914650"/>
            <a:ext cx="34036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5C2006-4B6D-4601-81DB-D3536994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3105150"/>
            <a:ext cx="298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334DDD-4366-4073-8103-13CDACC9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3543300"/>
            <a:ext cx="298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マイニングプール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9C3FD0-6FE4-4F36-A4D0-5DB0C7150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4238625"/>
            <a:ext cx="298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計算結果を受信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5DB13F-4726-44A9-81E1-D7674B80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実験では、配信・実行・プールを管理下の環境に置く</a:t>
            </a:r>
          </a:p>
        </p:txBody>
      </p:sp>
    </p:spTree>
    <p:extLst>
      <p:ext uri="{BB962C8B-B14F-4D97-AF65-F5344CB8AC3E}">
        <p14:creationId xmlns:p14="http://schemas.microsoft.com/office/powerpoint/2010/main" val="9296012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2A11E2-9929-4545-9677-AC9A5B3F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検知が難しい理由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5DDFC5-078E-4970-8115-F88A434E2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45B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EF921C-27B9-4254-BEEF-83584E8CA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コードの特徴と実行時の挙動の両方を確認する必要がある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C6BA1D-FBDD-49B1-A256-59243E50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1BDEDB-599B-4DCD-83AB-C710E95E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34544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F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011612-AA88-4E1E-95F0-A016DE1C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9900"/>
            <a:ext cx="2959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外見の変化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71F50D-48B3-4422-9399-97FED89E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29591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バイナリ多様化</a:t>
            </a:r>
          </a:p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処理の分散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0EFC82-EB93-429A-90EC-A490BFA9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743200"/>
            <a:ext cx="34544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734798-86C5-4346-B9A9-9E8CA3CA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6450" y="3009900"/>
            <a:ext cx="2959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挙動の重なり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4A34A5-978E-42B3-803F-74E805D3C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6450" y="3810000"/>
            <a:ext cx="29591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高負荷な良性計算</a:t>
            </a:r>
          </a:p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暗号処理の多様性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BEF89C-1709-4740-8EE7-ADC4ADA7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2743200"/>
            <a:ext cx="34544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BDC22C-F034-4035-8106-2801D532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3009900"/>
            <a:ext cx="2959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判定の条件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7263F8-5A8B-45A3-AED5-F258A716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3810000"/>
            <a:ext cx="29591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利用者の同意</a:t>
            </a:r>
          </a:p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CPU負荷だけの誤検知</a:t>
            </a:r>
          </a:p>
        </p:txBody>
      </p:sp>
    </p:spTree>
    <p:extLst>
      <p:ext uri="{BB962C8B-B14F-4D97-AF65-F5344CB8AC3E}">
        <p14:creationId xmlns:p14="http://schemas.microsoft.com/office/powerpoint/2010/main" val="17068171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BA6972-0B22-49B8-BDF0-F9717C45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既存の検知方式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BA7F0D-585D-4DF4-9470-FBEDBD22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45B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2BABCE-E9B7-4432-AA7F-1247C541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検知器が参照する特徴によって、変異の影響は異なる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D07108-3FAF-46A1-827E-F90B2AEE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39462C-10F8-4CD7-8CBF-C5CDAA45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86B07D-2C98-4CB0-8E4C-6ACD10ED8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静的特徴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BA78BC-B7D4-4E1F-852A-EEF420C2B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86050"/>
            <a:ext cx="7753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ハッシュ、シグネチャ、命令、バイナリ画像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4008BC-85F9-499C-92F4-D3C5E797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E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1A1773-D376-4B58-A142-A68F39D5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動的特徴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C93F37-366B-4847-85C2-F072FD8D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29000"/>
            <a:ext cx="7753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CPU使用率、通信、実行時イベント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B02899-391B-4EAB-9164-2200C788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A02D16-295A-4250-AE7B-C7C39DDBD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意味ベース解析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253ED4-005E-459B-A18D-A09D471B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171950"/>
            <a:ext cx="7753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ハッシュ処理などの意味を解析するMinerRay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4D161D-5CB0-46D5-A617-9A163C2A5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出典：MinerRay論文（添付資料のURL参照）</a:t>
            </a:r>
          </a:p>
        </p:txBody>
      </p:sp>
    </p:spTree>
    <p:extLst>
      <p:ext uri="{BB962C8B-B14F-4D97-AF65-F5344CB8AC3E}">
        <p14:creationId xmlns:p14="http://schemas.microsoft.com/office/powerpoint/2010/main" val="13051262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1D5E05-E125-4C23-A8ED-1D5B6475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元となる先行研究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07C509-9519-47C2-96A9-2A81FC60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45B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507B97-3EC7-4815-AD72-4DA3DF75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Wasmの多様化による検知回避を報告している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EE5BBB-2B6B-49E9-B782-3A9AD3A2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27D485-7EBD-453B-88C3-4B9B45882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0477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2925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WebAssembly Diversification</a:t>
            </a:r>
          </a:p>
          <a:p xmlns:a="http://schemas.openxmlformats.org/drawingml/2006/main">
            <a:pPr>
              <a:defRPr sz="2925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2925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for Malware Evasion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26B1F7-D8D6-4851-9824-4BF1E936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E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4B4FFC-4AFF-4393-BB6B-49F88840C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0075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変異・探索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AF9393-A8CA-405E-AA78-BB94573C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10075"/>
            <a:ext cx="7753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wasm-mutateと探索アルゴリズム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2B3E99-A07A-429B-8E33-CA0D84CF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8FCB15-9BE0-4566-B4D1-E92873D1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53025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評価対象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D0FC62-718E-4DD2-8B39-6E2F485A0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153025"/>
            <a:ext cx="7753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VirusTotal、MINOS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F5AC98-9C03-44EC-83D4-809FCAAE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出典：Computers &amp; Security, S0167404823002067／数値は原論文確認後に追記</a:t>
            </a:r>
          </a:p>
        </p:txBody>
      </p:sp>
    </p:spTree>
    <p:extLst>
      <p:ext uri="{BB962C8B-B14F-4D97-AF65-F5344CB8AC3E}">
        <p14:creationId xmlns:p14="http://schemas.microsoft.com/office/powerpoint/2010/main" val="44994058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B1D293-DB70-4D58-9E51-F3AA6AB9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wasm-mutateの役割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555732-B52B-42B6-BFB1-95CEB0FCC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45B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ED89B9-95AF-48D0-AFDC-07D1D1E4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異なる形のWasmを生成し、変異条件を管理する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A2FAA2-C10B-41C2-B8AD-9F9972756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A70C86-4A44-423B-88B9-BC210EEE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34544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F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65732A-209F-4E8F-AB3D-0E8A2498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9900"/>
            <a:ext cx="2959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入力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E9B22C-FC09-4BD7-A02B-CE04B1E9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29591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元Wasm</a:t>
            </a:r>
          </a:p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乱数seed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175673-FEA2-4999-9FF5-636D0F9F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743200"/>
            <a:ext cx="34544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24E3DE-0440-4656-AA8C-49C4590BF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6450" y="3009900"/>
            <a:ext cx="2959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変異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D3D301-7441-4DC7-9519-983979CF8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6450" y="3810000"/>
            <a:ext cx="29591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wasm-tools内の変異器</a:t>
            </a:r>
          </a:p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意味保存オプション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463026-674D-4EF4-9C28-A9CBFC16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2743200"/>
            <a:ext cx="34544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3B84F4-3F30-4F45-94F7-32691DC0B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3009900"/>
            <a:ext cx="2959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出力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8581AF-7741-4DCA-98F0-5A1B6B84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3810000"/>
            <a:ext cx="29591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変異体</a:t>
            </a:r>
          </a:p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検証結果・生成履歴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6C1635-FA0C-4ABB-9B5B-173C2B5C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出典：https://github.com/bytecodealliance/wasm-tools</a:t>
            </a:r>
          </a:p>
        </p:txBody>
      </p:sp>
    </p:spTree>
    <p:extLst>
      <p:ext uri="{BB962C8B-B14F-4D97-AF65-F5344CB8AC3E}">
        <p14:creationId xmlns:p14="http://schemas.microsoft.com/office/powerpoint/2010/main" val="20424312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86D852-2F0E-4B36-AAAD-04DF9E4F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先行研究と今回の評価範囲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FB8F74-E570-439C-867C-3A14B27D2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45B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57B6B2-C7DE-48FC-8138-6C568E1D4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実製品のブラウザ実行時の反応と、正規化の効果を調べる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5CC9B8-0021-41D1-80B5-B60C7D47F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4209B4-B0F1-4E6C-9BE8-73393496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34544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F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67AA08-F959-4ABB-8AAA-89F03C6E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9900"/>
            <a:ext cx="2959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先行研究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7D9793-B10E-469F-8B84-9252CAC7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29591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研究用検知器</a:t>
            </a:r>
          </a:p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ファイルスキャン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EB0EAB-9391-4DC5-850C-2E0394FB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743200"/>
            <a:ext cx="34544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19FCB6-542F-44C6-91E9-B6B5B890F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6450" y="3009900"/>
            <a:ext cx="2959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今回の評価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19288A-F7EA-4522-A917-0EEEF4F7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6450" y="3810000"/>
            <a:ext cx="29591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EDR・アンチウイルス</a:t>
            </a:r>
          </a:p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ブラウザ実行と遅延検知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2D6E8E-9A1C-45A0-9E0A-18F6B75D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2743200"/>
            <a:ext cx="34544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1DE865-8BBD-44B6-8763-72A4A74C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3009900"/>
            <a:ext cx="2959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防御手法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6F9B82-C849-4CBC-9AD3-F0481B091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3810000"/>
            <a:ext cx="29591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コード正規化</a:t>
            </a:r>
          </a:p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検知結果の回復</a:t>
            </a:r>
          </a:p>
        </p:txBody>
      </p:sp>
    </p:spTree>
    <p:extLst>
      <p:ext uri="{BB962C8B-B14F-4D97-AF65-F5344CB8AC3E}">
        <p14:creationId xmlns:p14="http://schemas.microsoft.com/office/powerpoint/2010/main" val="111777117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E6ADF6-A941-410B-B61C-8DBB66CB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研究目的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AB069E-6A90-487F-B9B2-D4BEBE181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45B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6DE717-E136-48B5-9813-FC6FA73E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変異前後と正規化前後を、同じ条件で比較する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8DA755-D839-4CFD-9C6D-94DD8E20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774F8D-23BE-4953-9446-E298B2F11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3525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検知結果の変化と</a:t>
            </a:r>
          </a:p>
          <a:p xmlns:a="http://schemas.openxmlformats.org/drawingml/2006/main">
            <a:pPr>
              <a:defRPr sz="3525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3525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正規化による回復可能性を測定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EB83BA-AF11-4BDA-B106-BF7619A6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機能の維持と性能低下を併せて確認する</a:t>
            </a:r>
          </a:p>
        </p:txBody>
      </p:sp>
    </p:spTree>
    <p:extLst>
      <p:ext uri="{BB962C8B-B14F-4D97-AF65-F5344CB8AC3E}">
        <p14:creationId xmlns:p14="http://schemas.microsoft.com/office/powerpoint/2010/main" val="203522391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D0B4D6-A5A8-4D4C-9B20-5E7241150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研究全体の位置付け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F450AE-C955-40FC-BA65-B16684FD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45B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9AEABF-C32E-4535-8810-DC56B9FE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調査、制御実験、正規化の評価を接続する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990484-ACC3-40AC-83F8-77F0B208D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8D44F3-01D8-471E-889F-2A0016FE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34036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F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557A16-3A2E-4B0D-9110-2C195960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05150"/>
            <a:ext cx="298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41F414-35F0-4D7F-A51B-2FD64ED0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43300"/>
            <a:ext cx="298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Phase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F89D54-E348-4BA4-AC7C-DF71F81F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38625"/>
            <a:ext cx="298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検体・難読化手法の調査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A2C602-2EB4-4F62-8A9F-04CC01D4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9400" y="364807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123CB0-AE14-4F7E-A368-E12B2BBB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200" y="2914650"/>
            <a:ext cx="34036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1ACC27-2B01-4288-B6EB-3890A1D6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3105150"/>
            <a:ext cx="298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19508E-F8A4-4C41-9895-E9E25BB3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3543300"/>
            <a:ext cx="298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Phase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3383F5-23DF-4F8D-9564-8DA1016E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0" y="4238625"/>
            <a:ext cx="298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StarBEDで実製品を評価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998621-F1C3-40A2-9835-4CE8C6F6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7800" y="3648075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E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05F644-F5E6-4FC4-AEF9-C8D2FA61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600" y="2914650"/>
            <a:ext cx="34036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3F0C4D-DC21-4931-B51A-DE1FAC60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3105150"/>
            <a:ext cx="298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B445A0-B2F9-4C40-B203-F56FA42F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3543300"/>
            <a:ext cx="298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Phase 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D0A5E6-1F89-4845-9A08-EEE42012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2150" y="4238625"/>
            <a:ext cx="298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コード正規化を評価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D352E3-BBC6-4E7B-93FC-08651860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現在位置：［該当するPhaseを強調］</a:t>
            </a:r>
          </a:p>
        </p:txBody>
      </p:sp>
    </p:spTree>
    <p:extLst>
      <p:ext uri="{BB962C8B-B14F-4D97-AF65-F5344CB8AC3E}">
        <p14:creationId xmlns:p14="http://schemas.microsoft.com/office/powerpoint/2010/main" val="126240508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E76569-CE58-46AD-AAF5-62E5D918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リサーチクエスチョン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5DC6B6-CFB3-4484-993A-206121994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45B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E7CC4F-89C8-470E-8F22-96E66761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観測できる結果に基づいて、四つの問いに答える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99C1D9-F5FD-4F6D-9CED-FFD913CC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2FF4A6-A14D-4951-B41C-06A54A03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66D313-0E3B-4016-9D96-106936A5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RQ1  構造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A83164-B89D-4DE3-9389-F733229F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86050"/>
            <a:ext cx="7753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wasm-mutateはどのような構造変化を生成するか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59EA72-9AC4-417A-8CDA-95F99532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E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B8F036-E2AE-4B34-A35A-4DAAFE5D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RQ2  機能・性能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FC1E97-3E86-4308-AF03-B319661D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29000"/>
            <a:ext cx="7753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変異後も機能と性能は維持されるか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F47FC1-12C4-4347-8C56-0C0FD35D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4ED0E4-AB51-4B37-B2F1-F31614F4D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RQ3  検知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3ABEC0-3BF3-41E0-8326-971EC363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171950"/>
            <a:ext cx="7753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変異によってEDR・AVの検知結果は変化するか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7BAA7B-DB62-41DF-BCEF-6B0C7F7D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E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2233DC-7AF3-4FA4-94D0-391B96520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RQ4  正規化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F790F0-DDA2-4D67-B5BC-C7B366E71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914900"/>
            <a:ext cx="7753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正規化によって検知結果を回復できるか</a:t>
            </a:r>
          </a:p>
        </p:txBody>
      </p:sp>
    </p:spTree>
    <p:extLst>
      <p:ext uri="{BB962C8B-B14F-4D97-AF65-F5344CB8AC3E}">
        <p14:creationId xmlns:p14="http://schemas.microsoft.com/office/powerpoint/2010/main" val="124676503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5A7388-AB30-482E-9116-BADC6D22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検証前の仮説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BAAA00-61DC-49E1-8622-0D7377DED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45B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60EF06-2C36-46EB-8C3E-C0F46FB7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以下は実験で検証する仮説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1F673E-7636-4E7C-A8F0-EBFF70A17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F7C607-1E86-44D9-BCA5-B4E854B9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3FC15B-91D5-42CE-AED6-6205B120F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H1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21B599-AEE8-4F21-BEB4-F8892C931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86050"/>
            <a:ext cx="7753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変異回数が増えるとバイナリ類似度が低下する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97E430-91D0-4B8E-89EC-DF7ED17D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E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F45ABE-3906-404E-917D-6F7B6B2A9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H2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0349B3-A7CD-4B3E-9267-CE9AD5B8B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29000"/>
            <a:ext cx="7753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一部の変異体は機能を維持したまま検知を回避する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EF16CD-C482-478C-AD55-E337B1F3E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021599-B6E7-45A4-A5F7-E85BA096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H3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D29257-8BB7-444B-A44C-F437CB23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171950"/>
            <a:ext cx="7753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動的・意味ベース検知は変異の影響を受けにくい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61EABC-32AF-43A1-AE69-31C40422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E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BD6F9A-0255-4F0C-A7F8-7CCFFB92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H4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A2F840-4DAF-42D9-923C-4DA9D335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914900"/>
            <a:ext cx="7753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正規化で元Wasmに近い特徴を回復できる</a:t>
            </a:r>
          </a:p>
        </p:txBody>
      </p:sp>
    </p:spTree>
    <p:extLst>
      <p:ext uri="{BB962C8B-B14F-4D97-AF65-F5344CB8AC3E}">
        <p14:creationId xmlns:p14="http://schemas.microsoft.com/office/powerpoint/2010/main" val="78629179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CEA05C-A992-479F-974B-C2112220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評価パイプライン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E94371-59C5-443C-BF5B-898644A9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45B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087A7D-308F-4738-891C-EBCD9BBD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生成から判定までの履歴をrun_idで結び付ける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B26027-E3F9-4167-A267-4CA78FBD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55DD12-E2DF-42CB-B029-D56F33B49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57475"/>
            <a:ext cx="24765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F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16C7C5-6233-46FD-B66B-A2258D63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47975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B21E7A-C413-48D7-8E93-E0C50CC0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86125"/>
            <a:ext cx="2057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生成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676B05-422D-45EA-8127-F3B1BDBF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81450"/>
            <a:ext cx="2057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元Wasm・変異体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C58D12-FE00-46E8-BD74-1C1C0E7C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390900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101F56-804B-4D90-B326-212F603A5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657475"/>
            <a:ext cx="24765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4084D3-2FD6-42AE-9FE9-1A487755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847975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29E60E-A228-4278-9D70-6B14456A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286125"/>
            <a:ext cx="2057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検証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635B21-302A-4989-B8C2-790F7774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981450"/>
            <a:ext cx="2057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妥当性・意味保存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B6D70D-CD2E-4097-843C-3B38F40CE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390900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E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841434-3DDA-4D1A-A50E-64AD34C8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57475"/>
            <a:ext cx="24765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E417A1-B297-430C-AE6B-7D18F81C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47975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BF933C-1F31-4F77-B837-3714E1C5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86125"/>
            <a:ext cx="2057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実行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592074-1F2D-4924-B9A3-1C7430A8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81450"/>
            <a:ext cx="2057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ブラウザで実行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DA0A13-6D6F-4165-A874-D8152BDAF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390900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E5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215B0F-6993-425E-AC5A-F8EC5326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57475"/>
            <a:ext cx="24765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51E499-A3E6-48A2-9D30-5E3CFD5A5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47975"/>
            <a:ext cx="205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DEA528-36C5-4C1F-B548-DEC06FB7F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86125"/>
            <a:ext cx="2057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観測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343992-772A-4B73-AC31-5F60CCB6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81450"/>
            <a:ext cx="2057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検知・accepted share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6E1D86-30CA-4A6C-9A8D-E778AE86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082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FA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FCEA45-2FBA-4B6A-912B-AEC77B5FB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33975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正規化した変異体にも、同じ検証・実行・観測を適用</a:t>
            </a:r>
          </a:p>
        </p:txBody>
      </p:sp>
    </p:spTree>
    <p:extLst>
      <p:ext uri="{BB962C8B-B14F-4D97-AF65-F5344CB8AC3E}">
        <p14:creationId xmlns:p14="http://schemas.microsoft.com/office/powerpoint/2010/main" val="203228392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D1DF5B-DEEB-498C-9AA6-9D903F11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評価対象の検体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FDC570-D975-460F-AEDD-9EA82B0C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45B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82329D-A881-4ABF-88B6-5C6F1A84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出所と選定条件を固定し、元検体を識別する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0C6A8D-7D10-47F0-A0D8-1CD2BBCD7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8D49AB-59E1-4809-950A-AD42B834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52959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F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CB9815-624D-466E-9CE3-33BEA509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9900"/>
            <a:ext cx="4800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検体候補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F15B47-F65D-411E-851C-82192D72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4800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先行研究の実行可能検体</a:t>
            </a:r>
          </a:p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管理下の模擬検体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B5D151-2214-4659-B30D-F288EEF4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43200"/>
            <a:ext cx="52959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F5236E-6B3A-4CE1-A054-451B97EF7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09900"/>
            <a:ext cx="4800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記録項目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B0538D-50D7-4960-B4FA-8E8133F37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10000"/>
            <a:ext cx="4800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SHA-256</a:t>
            </a:r>
          </a:p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アルゴリズム・コンパイラ</a:t>
            </a:r>
          </a:p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JSラッパーのバージョン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2E8C3B-5568-4EB6-8372-3E4F0AF0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第三者の環境に接続しない構成で評価する</a:t>
            </a:r>
          </a:p>
        </p:txBody>
      </p:sp>
    </p:spTree>
    <p:extLst>
      <p:ext uri="{BB962C8B-B14F-4D97-AF65-F5344CB8AC3E}">
        <p14:creationId xmlns:p14="http://schemas.microsoft.com/office/powerpoint/2010/main" val="13590879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AF40C7-2F7B-4541-8406-0092322F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変異体の生成条件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51E18E-5B43-42D2-8C35-AB5FE89D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45B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528477-8652-450F-9117-073DBB071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再生成に必要なパラメータと失敗を記録する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2BE646-ADFC-43DF-B537-729506F7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2BA534-FC56-48CD-B805-5B2E5D12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C66EC0-84EC-498C-BC77-5B10DE7A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生成規模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0721BA-4C28-403E-A453-470796692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86050"/>
            <a:ext cx="7753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元検体数［ ］  変異体数［ ］  変異回数［ 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AB8137-4BD5-437A-B8C2-CB71506CD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E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B6F441-E365-4DF7-AC4C-FD0D3C06D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変異条件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59040D-6991-4641-B440-451A8C977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29000"/>
            <a:ext cx="7753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seed［ ］  意味保存［有・無］  探索条件［ 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0EC8BF-8C92-4D14-A2EF-43DA7EDC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951B73-71E8-43C5-81DD-7F60F6B2E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失敗の扱い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6DC6A5-A7A6-4BE5-BB71-EAD263FA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171950"/>
            <a:ext cx="7753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生成失敗・検証失敗を記録して分母を明示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F2CB2A-3EC6-4477-94DF-36D03E27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E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60DE09-8303-41A5-9B38-1089D5FA9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識別情報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FA2982-9745-406E-9933-A6FCECF4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914900"/>
            <a:ext cx="7753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元検体ID、変異体ID、SHA-256の対応を保存</a:t>
            </a:r>
          </a:p>
        </p:txBody>
      </p:sp>
    </p:spTree>
    <p:extLst>
      <p:ext uri="{BB962C8B-B14F-4D97-AF65-F5344CB8AC3E}">
        <p14:creationId xmlns:p14="http://schemas.microsoft.com/office/powerpoint/2010/main" val="9399498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C9061B-6DA5-4CC8-B3E5-993FC1EF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コード正規化モジュール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7F08DF-78B2-4199-8EB0-316AFBF5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45B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CDC1F2-AB10-4542-A7DC-D776883F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異なる表現を共通表現へ近づける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CCA35A-50BB-48B9-8E2E-1FD1DFB4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2A7DAC-4CAB-4324-B614-2DCA919A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52959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F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2E15A1-35B0-4C63-AF1D-2435805A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9900"/>
            <a:ext cx="4800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正規化前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5A73E6-5C8A-473D-BDB2-374C31B0D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4800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［WATの命令列を挿入］</a:t>
            </a:r>
          </a:p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変異による表現の違い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7BEC6B-7FED-417C-BA9E-4C57375C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43200"/>
            <a:ext cx="52959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242F2B-DD20-4137-AB59-26BB0243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09900"/>
            <a:ext cx="4800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正規化後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57CA13-93C5-4B05-A6CA-F7FD19907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10000"/>
            <a:ext cx="48006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［正規化後のWATを挿入］</a:t>
            </a:r>
          </a:p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整理した命令列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0F1A8B-6D49-4BBB-BD08-1EC9C48F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対象候補：不要命令・到達不能コード・定数式／実装済み範囲［ ］</a:t>
            </a:r>
          </a:p>
        </p:txBody>
      </p:sp>
    </p:spTree>
    <p:extLst>
      <p:ext uri="{BB962C8B-B14F-4D97-AF65-F5344CB8AC3E}">
        <p14:creationId xmlns:p14="http://schemas.microsoft.com/office/powerpoint/2010/main" val="41137924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5496F3-BB7F-42D5-8BEB-FF46E39F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実験群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B86361-6FE1-4339-87C3-D9242F79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45B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EED37A-2111-427E-AB6F-0934B369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難読化と正規化の効果を切り分ける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4B651A-3FF1-4C9C-BC60-8975ABEEC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ECD0CD-7ADD-4852-AC3F-A39E2715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9A2EFC-CE83-4A07-A797-466624401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A  基準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E6C2DA-D9C5-4282-8FD5-AF0F9DF1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86050"/>
            <a:ext cx="7753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元Wasm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7C1DF9-F392-4616-A1D4-6193026B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E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217121-0CC8-4E01-867F-B83E7B10C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B・C  変異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B2212C-AE0D-46F0-9514-D64497173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29000"/>
            <a:ext cx="7753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B：ランダム生成  C：検知回避を探索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BB041E-E984-4347-9BA8-7E91D602B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A2D861-E422-44F7-B4C7-602FD852D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D  正規化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7E625B-5633-421B-AC8F-8BDF060D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171950"/>
            <a:ext cx="7753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変異体を正規化したもの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930838-D9A6-4ED4-846B-774DBF0C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E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74A4F5-956B-415D-B5C2-AD3A38D6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E  良性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705EF1-AE7D-4338-9C14-EE2713887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914900"/>
            <a:ext cx="7753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良性Wasmによる誤検知の確認</a:t>
            </a:r>
          </a:p>
        </p:txBody>
      </p:sp>
    </p:spTree>
    <p:extLst>
      <p:ext uri="{BB962C8B-B14F-4D97-AF65-F5344CB8AC3E}">
        <p14:creationId xmlns:p14="http://schemas.microsoft.com/office/powerpoint/2010/main" val="89302843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0A29D1-EC7D-45EA-ACA1-5011A626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StarBEDを使用する理由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D7619F-4663-4331-818D-001807D0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45B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E59DEC-3145-4945-896F-E5BEF0DE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隔離と再構築を前提に、通信とホストを観測する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F2DF88-BAB4-4C1D-BA9B-9ACD854D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B5091C-478D-42A0-9C72-32C2B38C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34544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F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A6474A-FA45-4F5F-80AE-6FEF0BB10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9900"/>
            <a:ext cx="2959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分離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7CDFF3-CD51-400D-8A24-C98444D4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29591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管理系と実験系</a:t>
            </a:r>
          </a:p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外部への影響を抑制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0ADBDC-7851-4CC2-8B2A-82CA585F5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743200"/>
            <a:ext cx="34544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BE3C18-52A4-4C8C-8C70-FA5A1B978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6450" y="3009900"/>
            <a:ext cx="2959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再構築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920DBD-8AC7-429C-857D-B68D690A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6450" y="3810000"/>
            <a:ext cx="29591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KVMによる環境復元</a:t>
            </a:r>
          </a:p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条件と時刻の統一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DDEE24-18B3-457E-B678-E148BA85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2743200"/>
            <a:ext cx="34544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CB07FB-D382-4ECA-8FB0-5BD7B1E9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3009900"/>
            <a:ext cx="2959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観測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46A1F7-00CA-437C-BF96-A0135EAB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3810000"/>
            <a:ext cx="29591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パケット</a:t>
            </a:r>
          </a:p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ホストイベント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50384B-1B86-421D-A334-026AC273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出典：StarBED設備概要（添付資料のURL参照）</a:t>
            </a:r>
          </a:p>
        </p:txBody>
      </p:sp>
    </p:spTree>
    <p:extLst>
      <p:ext uri="{BB962C8B-B14F-4D97-AF65-F5344CB8AC3E}">
        <p14:creationId xmlns:p14="http://schemas.microsoft.com/office/powerpoint/2010/main" val="88945822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64844A-0647-4C67-9A07-CC9B3893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物理・仮想構成案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08BE97-2A3F-4576-8387-847BF8C3C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45B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C65F28-46C2-4B53-9E90-E95DDD8FC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X087の1物理ノード上にKVM/libvirt環境を構築する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CE9C0E-C1EF-4309-91B3-5253BF0C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A3C2C9-F8E1-41D4-957D-1025AB9D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FCCBA7-2D5F-43E2-8BCE-1BE5E2E1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6225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X087  /  KVM・libvirt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3EE49F-AB07-4967-8244-F29067754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3238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F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786CDA-5D42-4A45-9A19-50B1647E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86175"/>
            <a:ext cx="2781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VLAN 3305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56D56C-C638-4DA7-9F12-1CA6A6E02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76725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Web配信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5A1EF7-9EA8-4BE8-A705-0009CE3F2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14725"/>
            <a:ext cx="3238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F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49C2BA-12E7-4309-B80C-2FC2EDF38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86175"/>
            <a:ext cx="2781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VLAN 3306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23F877-4BDB-4E75-8737-741937BDE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276725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マイニング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71A2AA-2D4B-4724-9D48-EFE40AD6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14725"/>
            <a:ext cx="3238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F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E08709-AD20-4A24-8C6A-3FF392A7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86175"/>
            <a:ext cx="2781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VLAN 3307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0640F0-D2AC-4BF8-84B9-ACEAD1AF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76725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VM管理・観測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E6C019-B198-4FE6-B7C5-0218CA93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bus4.0：施設管理用／EXP_IF：実験用25GbE／設計案として要確認</a:t>
            </a:r>
          </a:p>
        </p:txBody>
      </p:sp>
    </p:spTree>
    <p:extLst>
      <p:ext uri="{BB962C8B-B14F-4D97-AF65-F5344CB8AC3E}">
        <p14:creationId xmlns:p14="http://schemas.microsoft.com/office/powerpoint/2010/main" val="209700120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E6DB33-3E8C-46B8-B011-A07D542C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VM間の通信経路案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385DA5-5BBC-4A3C-ADD5-7356F5EB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45B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E67098-ACF3-4FBA-8783-F3659D14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実験通信と管理・観測通信を論理的に分離する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85AB82-B8B2-443E-B352-59F1440F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333CAD-C00F-44E8-8D89-32CF5EDE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75573D-FE29-4483-9B7A-E9CA4BE1B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Web配信  3305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DBBA3C-0C00-4D4E-A2F5-3340CD63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86050"/>
            <a:ext cx="7753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10.33.5.10  から  被害者10.33.5.20  ／ TCP 7676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92766C-2A33-4BBC-98A3-D32D9204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E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1582CE-B8CA-4931-B321-20AFAB720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計算通信  3306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918D61-B551-4AD0-8359-0AB02A06B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29000"/>
            <a:ext cx="7753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被害者10.33.6.20  と  プール10.33.6.10 ／ TCP 8892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4951E9-0F86-45BF-876C-7548718B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67A848-9BB9-461F-8463-522CCF028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観測  3307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B54AFD-2026-41FA-9CF6-491C21E3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171950"/>
            <a:ext cx="7753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被害者10.33.7.20  と  観測VM10.33.7.40 ／ TCP 5986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ACF592-D57C-46C0-B64E-674651B6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同一ホスト内：Linux bridgeでL2転送／ポートと経路は設計案</a:t>
            </a:r>
          </a:p>
        </p:txBody>
      </p:sp>
    </p:spTree>
    <p:extLst>
      <p:ext uri="{BB962C8B-B14F-4D97-AF65-F5344CB8AC3E}">
        <p14:creationId xmlns:p14="http://schemas.microsoft.com/office/powerpoint/2010/main" val="43849488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65F4A9-7318-4E7A-9A96-C55228AC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EDR・アンチウイルスの評価条件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523839-38F8-4038-A7D4-E5FAF4E92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45B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085FCA-C500-4BB4-AF88-1D8AD57F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検知に影響する設定を実験時点で保存する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5BA266-FF75-4751-B63D-AEBC6AA40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78956C-61C4-434B-941F-CB733B5F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34544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F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8E4A40-8936-4CFE-9C53-6ACF2E49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9900"/>
            <a:ext cx="2959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製品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B23EA4-7E8A-46F9-875A-15980658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29591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製品・エージェント</a:t>
            </a:r>
          </a:p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エンジン・シグネチャ</a:t>
            </a:r>
          </a:p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［名称・バージョン］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14EC55-CF05-488E-AF25-3DEEE946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743200"/>
            <a:ext cx="34544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88C3D7-C108-41AC-A150-F2BAAC13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6450" y="3009900"/>
            <a:ext cx="2959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端末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885CBD-0C51-4CA2-8C68-C1859C5C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6450" y="3810000"/>
            <a:ext cx="29591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OSビルド</a:t>
            </a:r>
          </a:p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ブラウザ</a:t>
            </a:r>
          </a:p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［名称・バージョン］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5ED37B-0EED-439A-881F-B04FD968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2743200"/>
            <a:ext cx="34544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EB4B77-85CF-49F2-9DCF-6166E713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3009900"/>
            <a:ext cx="2959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保護・接続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1F3C9C-09FA-418F-B625-A6F3492B1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3810000"/>
            <a:ext cx="29591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リアルタイム・クラウド</a:t>
            </a:r>
          </a:p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Proxy・外部通信</a:t>
            </a:r>
          </a:p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［設定とポリシー］</a:t>
            </a:r>
          </a:p>
        </p:txBody>
      </p:sp>
    </p:spTree>
    <p:extLst>
      <p:ext uri="{BB962C8B-B14F-4D97-AF65-F5344CB8AC3E}">
        <p14:creationId xmlns:p14="http://schemas.microsoft.com/office/powerpoint/2010/main" val="196826627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68AED6-9C4A-4337-8CA5-0EDB2BA1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観測するイベント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3982B3-D20E-42EE-83CA-0BAD4468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45B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DFA4D2-A77E-47D3-910F-A9E74B45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製品アラートと実行の証拠を同じrun_idで集約する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773E61-0E0A-4274-8B97-DE2CCABA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BC41E2-5F5E-4635-9B4A-1ED0D5AF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34544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F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067BE6-7688-4780-A8CC-66B36DCD5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9900"/>
            <a:ext cx="2959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端末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3A0E5F-22F1-427E-9725-A14F8C93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29591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EDR・AVの検知と遮断</a:t>
            </a:r>
          </a:p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Windows Event Log</a:t>
            </a:r>
          </a:p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Sysmon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77F3D5-0CA7-4325-8C3F-41AACD58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743200"/>
            <a:ext cx="34544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5529C0-DD5B-4E0A-9D3B-3F8658ED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6450" y="3009900"/>
            <a:ext cx="2959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サービス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046E6C-4EC5-4C83-9103-406D8324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6450" y="3810000"/>
            <a:ext cx="29591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HTTP配信</a:t>
            </a:r>
          </a:p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WebSocket接続</a:t>
            </a:r>
          </a:p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accepted / rejected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32DE75-562D-450E-8D36-FD524E132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2743200"/>
            <a:ext cx="34544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73538F-82D8-4F71-97C2-BD6E2FA7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3009900"/>
            <a:ext cx="2959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ホスト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02CB82-7AEC-4154-BEA6-A62DD57F9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3810000"/>
            <a:ext cx="29591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pcap</a:t>
            </a:r>
          </a:p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開始・終了時刻</a:t>
            </a:r>
          </a:p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run_id</a:t>
            </a:r>
          </a:p>
        </p:txBody>
      </p:sp>
    </p:spTree>
    <p:extLst>
      <p:ext uri="{BB962C8B-B14F-4D97-AF65-F5344CB8AC3E}">
        <p14:creationId xmlns:p14="http://schemas.microsoft.com/office/powerpoint/2010/main" val="198430161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9B1784-67CF-499B-AA77-4A6A9FCB7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判定基準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4A6098-CDCF-45B6-A58A-8D90E963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45B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4AEB68-0551-421D-A2B9-02FDCBF8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実行成功と防御製品の反応を別々に判定する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1A18A4-C392-4EB7-A648-2B169A66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24FECA-9001-469F-A9C4-CB50EF3A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76E524-004B-4A16-B87D-92B0F2677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完全回避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2001E8-8765-47E4-9E64-31481B6E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86050"/>
            <a:ext cx="7753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accepted shareあり、警告・遮断なし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1C1CC1-F202-4B26-8BFF-C6B23A01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E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616306-F10B-40EF-B61F-0D25F47B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部分回避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BCEE5B-5186-4C03-BE95-464ED7BE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29000"/>
            <a:ext cx="7753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警告あり、実行は継続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B63021-FFF2-4299-93D0-F7706A730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BB9FBE-445D-42A7-9332-DD4457C9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防御成功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C0A275-FFFF-4C7D-9E73-A48C1656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171950"/>
            <a:ext cx="7753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隔離・削除・通信遮断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D7058F-D91B-4D6F-AE3B-D6FF3A6AD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E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C0524D-01F2-4338-9070-F306477E6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機能失敗・遅延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D70133-7A4C-4F74-A541-DA01F568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914900"/>
            <a:ext cx="7753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shareなし／終了後に警告を確認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C050DE-4C81-48CA-A945-78EAEB6D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実行：1000秒（計画値）／終了後の観測時間：［ ］秒</a:t>
            </a:r>
          </a:p>
        </p:txBody>
      </p:sp>
    </p:spTree>
    <p:extLst>
      <p:ext uri="{BB962C8B-B14F-4D97-AF65-F5344CB8AC3E}">
        <p14:creationId xmlns:p14="http://schemas.microsoft.com/office/powerpoint/2010/main" val="18574798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A22286-20E1-4431-BA2D-24BA8807E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評価指標と再現性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EFC55C-7E83-4E61-968B-13B9B536C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45B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67D477-4162-4A94-8CCC-4D28467A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検知・機能・性能・構造を同じ条件で比較する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985F82-1845-4766-8260-E80EA490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CD6361-3908-4BCD-8791-EF9544CE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34544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F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658D06-CDC7-4F6D-8267-4A534F4E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9900"/>
            <a:ext cx="2959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検知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0285BC-9AD2-4953-9DBE-1B4E1E92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29591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検知率・遮断率</a:t>
            </a:r>
          </a:p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正規化による回復率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901D8C-D176-4632-B920-A2AFED9E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743200"/>
            <a:ext cx="34544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894D7A-A994-4394-9F54-1007CA3F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6450" y="3009900"/>
            <a:ext cx="2959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実行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91DD0D-9A29-4AA2-8B76-22D4AC6C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6450" y="3810000"/>
            <a:ext cx="29591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accepted share率</a:t>
            </a:r>
          </a:p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hashes/s・実行時間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070D0C-DF8C-49A9-9CD4-6FF5A3C1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2743200"/>
            <a:ext cx="34544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1F2802-5EA2-4213-AE8C-0A213100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3009900"/>
            <a:ext cx="2959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構造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66446B-08FB-4A23-A790-7A6F36C8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3810000"/>
            <a:ext cx="29591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バイナリサイズ</a:t>
            </a:r>
          </a:p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命令列・CFG・類似度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7F3B5E-509B-45B5-9B48-2D2EF282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seed・設定・ログ・VMイメージを保存／順序をランダム化して反復</a:t>
            </a:r>
          </a:p>
        </p:txBody>
      </p:sp>
    </p:spTree>
    <p:extLst>
      <p:ext uri="{BB962C8B-B14F-4D97-AF65-F5344CB8AC3E}">
        <p14:creationId xmlns:p14="http://schemas.microsoft.com/office/powerpoint/2010/main" val="14783690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15F348-A1E1-4970-AEFF-690B6ACD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現在地と残る課題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37DEC8-1477-44CB-8AFE-37FDD9A1A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45B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E2996E-BDF5-4BCB-AAD1-47BF23B6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進捗とマイルストーンを更新して使う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4E9080-DDE2-451C-8081-2594B80ED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502120-2B89-4040-B50D-7B0C5493A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E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697FC9-C269-41A8-873F-D4DB58F4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完了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79FBC4-2C7B-4697-AD9F-64BD2D3F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86050"/>
            <a:ext cx="7753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先行研究調査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30C79A-0BF9-4638-A4AD-45E3B1E0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E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B30176-D60D-433D-A684-7B156333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進行中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90EE22-0066-4796-8A7A-3873BE97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29000"/>
            <a:ext cx="7753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Wasm正規化モジュール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78BDB2-74C6-4BA0-BE91-E9C14A74B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79022A-9EB1-4A19-A127-90CFB3F6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設計済み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759A46-EB61-46CC-B201-B5C0C7D5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171950"/>
            <a:ext cx="7753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KVM・VLAN・IP構成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0036B5-9105-4D3A-B664-62889124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7E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B4AE19-287C-4C34-8DCA-4D05F3B8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未完了・未決定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CC6BF6-7EF9-476D-8B99-64C8B024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914900"/>
            <a:ext cx="7753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製品選定、観測VM、自動実験、EDR外部接続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317E7D-2DDA-4028-A474-13BC5280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添付資料の進捗を記載／次のマイルストーン：［内容］［期限］</a:t>
            </a:r>
          </a:p>
        </p:txBody>
      </p:sp>
    </p:spTree>
    <p:extLst>
      <p:ext uri="{BB962C8B-B14F-4D97-AF65-F5344CB8AC3E}">
        <p14:creationId xmlns:p14="http://schemas.microsoft.com/office/powerpoint/2010/main" val="198664727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6C192E-CEA3-4E46-B9A8-467DE9715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NICT・StarBED担当者への相談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7D6E80-F707-4448-BE19-802EEC3A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85875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545B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1BD1AD-2C8D-4CCC-B5F5-CB6ED92E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構成・接続・観測・復元の運用条件を確認する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CCCF8A-2CE1-4F2C-A077-78FD5793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7717F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77717F"/>
                </a:solidFill>
                <a:latin typeface="Yu Gothic"/>
                <a:ea typeface="Yu Gothic"/>
                <a:cs typeface="Yu Gothic"/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6567A5-E8CA-4A1C-ADC4-50B04BBE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34544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F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DC8987-C085-4325-BE80-0A9A3009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09900"/>
            <a:ext cx="2959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構成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390057-C491-46F5-A995-868515392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0000"/>
            <a:ext cx="29591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物理VLANの利用要否</a:t>
            </a:r>
          </a:p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bus4.0と管理系の分離</a:t>
            </a:r>
          </a:p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観測VMの配置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3B3FF8-0DBE-4AE7-A205-CFB469F6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743200"/>
            <a:ext cx="34544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6121EA-88AD-43DE-BC4B-CD496B58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6450" y="3009900"/>
            <a:ext cx="2959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接続・観測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9CFCF6-EE20-4043-8697-02520C5F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6450" y="3810000"/>
            <a:ext cx="29591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EDRのProxy利用</a:t>
            </a:r>
          </a:p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ログとpcapの時刻同期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1C237F-8AE2-4085-B1F7-0583F68F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2743200"/>
            <a:ext cx="34544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DDEF2C-4F36-405C-A125-EE7890124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3009900"/>
            <a:ext cx="2959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545B8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7545B8"/>
                </a:solidFill>
                <a:latin typeface="Yu Gothic"/>
                <a:ea typeface="Yu Gothic"/>
                <a:cs typeface="Yu Gothic"/>
              </a:rPr>
              <a:t>運用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18B95A-3176-40F0-8905-C63F0772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9450" y="3810000"/>
            <a:ext cx="29591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実験後のVM復元</a:t>
            </a:r>
          </a:p>
          <a:p xmlns:a="http://schemas.openxmlformats.org/drawingml/2006/main">
            <a:pPr>
              <a:def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25232C"/>
                </a:solidFill>
                <a:latin typeface="Yu Gothic"/>
                <a:ea typeface="Yu Gothic"/>
                <a:cs typeface="Yu Gothic"/>
              </a:rPr>
              <a:t>避けるべき構成・通信</a:t>
            </a:r>
          </a:p>
        </p:txBody>
      </p:sp>
    </p:spTree>
    <p:extLst>
      <p:ext uri="{BB962C8B-B14F-4D97-AF65-F5344CB8AC3E}">
        <p14:creationId xmlns:p14="http://schemas.microsoft.com/office/powerpoint/2010/main" val="512197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2026-10-05T13:21:33.8880000Z</dcterms:created>
  <dcterms:modified xsi:type="dcterms:W3CDTF">2026-10-05T13:21:33.8890000Z</dcterms:modified>
</coreProperties>
</file>